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这一页先概述本次本地联调测试的阶段性结果，说明样本所反映的业务总体仍处于增长通道。我们重点看到三类信号：收入继续提升、增量更集中于重点区域，以及用户经营结构出现变化。基于 source_text.md 的提炼，这些结论可作为后续业务判断和资源配置的参考。</a:t>
            </a:r>
          </a:p>
          <a:p>
            <a:r>
              <a:rPr lang="zh-CN" dirty="0"/>
              <a:t>要点： 收入增长明确，区域贡献集中，用户经营从单纯拉新转向更关注结构优化。</a:t>
            </a:r>
          </a:p>
          <a:p>
            <a:r>
              <a:rPr lang="zh-CN" dirty="0"/>
              <a:t>时长： 1分20秒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过渡来看，增长的主要驱动力目前来自华东区域，这意味着区域策略正在发挥作用，但也提示增长来源相对集中。与此同时，收入同比增长18%，说明整体业务规模仍在扩张，不过新客获取成本上升，反映获客效率面临一定压力。值得关注的是，复购表现有所改善，说明留存和用户价值经营正在成为支撑增长质量的重要因素。</a:t>
            </a:r>
          </a:p>
          <a:p>
            <a:r>
              <a:rPr lang="zh-CN" dirty="0"/>
              <a:t>要点： 当前呈现“收入增长、区域集中、拉新承压、复购改善”的组合特征。</a:t>
            </a:r>
          </a:p>
          <a:p>
            <a:r>
              <a:rPr lang="zh-CN" dirty="0"/>
              <a:t>时长： 1分40秒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0" y="-809625"/>
            <a:ext cx="13049250" cy="8143875"/>
            <a:chOff x="0" y="-809625"/>
            <a:chExt cx="13049250" cy="8143875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8FBFF"/>
                </a:gs>
                <a:gs pos="55000">
                  <a:srgbClr val="F2FAFF"/>
                </a:gs>
                <a:gs pos="100000">
                  <a:srgbClr val="ECFDF5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334250" y="-809625"/>
              <a:ext cx="4762500" cy="4762500"/>
            </a:xfrm>
            <a:prstGeom prst="ellipse">
              <a:avLst/>
            </a:prstGeom>
            <a:gradFill>
              <a:gsLst>
                <a:gs pos="0">
                  <a:srgbClr val="38BDF8">
                    <a:alpha val="20000"/>
                  </a:srgbClr>
                </a:gs>
                <a:gs pos="100000">
                  <a:srgbClr val="38BD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8572500" y="2857500"/>
              <a:ext cx="4476750" cy="4476750"/>
            </a:xfrm>
            <a:prstGeom prst="ellipse">
              <a:avLst/>
            </a:prstGeom>
            <a:gradFill>
              <a:gsLst>
                <a:gs pos="0">
                  <a:srgbClr val="16A34A">
                    <a:alpha val="14000"/>
                  </a:srgbClr>
                </a:gs>
                <a:gs pos="100000">
                  <a:srgbClr val="16A34A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000875" y="2333625"/>
              <a:ext cx="2857500" cy="2857500"/>
            </a:xfrm>
            <a:prstGeom prst="ellipse">
              <a:avLst/>
            </a:prstGeom>
            <a:gradFill>
              <a:gsLst>
                <a:gs pos="0">
                  <a:srgbClr val="38BDF8">
                    <a:alpha val="20000"/>
                  </a:srgbClr>
                </a:gs>
                <a:gs pos="100000">
                  <a:srgbClr val="38BD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7048500" y="381000"/>
              <a:ext cx="4953000" cy="1333500"/>
            </a:xfrm>
            <a:custGeom>
              <a:avLst/>
              <a:gdLst/>
              <a:ahLst/>
              <a:cxnLst/>
              <a:rect l="l" t="t" r="r" b="b"/>
              <a:pathLst>
                <a:path w="4953000" h="1333500">
                  <a:moveTo>
                    <a:pt x="0" y="476250"/>
                  </a:moveTo>
                  <a:cubicBezTo>
                    <a:pt x="1809750" y="0"/>
                    <a:pt x="3524250" y="381000"/>
                    <a:pt x="4953000" y="1333500"/>
                  </a:cubicBezTo>
                </a:path>
              </a:pathLst>
            </a:custGeom>
            <a:noFill/>
            <a:ln w="19050">
              <a:solidFill>
                <a:srgbClr val="38BDF8">
                  <a:alpha val="20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334250" y="857250"/>
              <a:ext cx="4476750" cy="1524000"/>
            </a:xfrm>
            <a:custGeom>
              <a:avLst/>
              <a:gdLst/>
              <a:ahLst/>
              <a:cxnLst/>
              <a:rect l="l" t="t" r="r" b="b"/>
              <a:pathLst>
                <a:path w="4476750" h="1524000">
                  <a:moveTo>
                    <a:pt x="0" y="381000"/>
                  </a:moveTo>
                  <a:cubicBezTo>
                    <a:pt x="1714500" y="0"/>
                    <a:pt x="3286125" y="381000"/>
                    <a:pt x="4476750" y="1524000"/>
                  </a:cubicBezTo>
                </a:path>
              </a:pathLst>
            </a:custGeom>
            <a:noFill/>
            <a:ln w="19050">
              <a:solidFill>
                <a:srgbClr val="0F62FE">
                  <a:alpha val="12000"/>
                </a:srgb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7239000" y="3810000"/>
              <a:ext cx="4572000" cy="2095500"/>
            </a:xfrm>
            <a:custGeom>
              <a:avLst/>
              <a:gdLst/>
              <a:ahLst/>
              <a:cxnLst/>
              <a:rect l="l" t="t" r="r" b="b"/>
              <a:pathLst>
                <a:path w="4572000" h="2095500">
                  <a:moveTo>
                    <a:pt x="0" y="666750"/>
                  </a:moveTo>
                  <a:cubicBezTo>
                    <a:pt x="1714500" y="0"/>
                    <a:pt x="3143250" y="571500"/>
                    <a:pt x="4572000" y="2095500"/>
                  </a:cubicBezTo>
                </a:path>
              </a:pathLst>
            </a:custGeom>
            <a:noFill/>
            <a:ln w="19050">
              <a:solidFill>
                <a:srgbClr val="16A34A">
                  <a:alpha val="14000"/>
                </a:srgbClr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7810500" y="1123950"/>
            <a:ext cx="3524250" cy="4343400"/>
            <a:chOff x="7810500" y="1123950"/>
            <a:chExt cx="3524250" cy="4343400"/>
          </a:xfrm>
        </p:grpSpPr>
        <p:sp>
          <p:nvSpPr>
            <p:cNvPr id="11" name="Freeform 11"/>
            <p:cNvSpPr/>
            <p:nvPr/>
          </p:nvSpPr>
          <p:spPr>
            <a:xfrm>
              <a:off x="7810500" y="1123950"/>
              <a:ext cx="3524250" cy="4343400"/>
            </a:xfrm>
            <a:custGeom>
              <a:avLst/>
              <a:gdLst/>
              <a:ahLst/>
              <a:cxnLst/>
              <a:rect l="l" t="t" r="r" b="b"/>
              <a:pathLst>
                <a:path w="3524250" h="4343400">
                  <a:moveTo>
                    <a:pt x="266700" y="0"/>
                  </a:moveTo>
                  <a:lnTo>
                    <a:pt x="3257550" y="0"/>
                  </a:lnTo>
                  <a:cubicBezTo>
                    <a:pt x="3404844" y="0"/>
                    <a:pt x="3524250" y="119406"/>
                    <a:pt x="3524250" y="266700"/>
                  </a:cubicBezTo>
                  <a:lnTo>
                    <a:pt x="3524250" y="4076700"/>
                  </a:lnTo>
                  <a:cubicBezTo>
                    <a:pt x="3524250" y="4223994"/>
                    <a:pt x="3404844" y="4343400"/>
                    <a:pt x="3257550" y="4343400"/>
                  </a:cubicBezTo>
                  <a:lnTo>
                    <a:pt x="266700" y="4343400"/>
                  </a:lnTo>
                  <a:cubicBezTo>
                    <a:pt x="119406" y="4343400"/>
                    <a:pt x="0" y="4223994"/>
                    <a:pt x="0" y="4076700"/>
                  </a:cubicBezTo>
                  <a:lnTo>
                    <a:pt x="0" y="266700"/>
                  </a:ln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 w="14288">
              <a:solidFill>
                <a:srgbClr val="CBD5E1"/>
              </a:solidFill>
            </a:ln>
            <a:effectLst>
              <a:outerShdw blurRad="228600" dist="76200" dir="10799570" algn="tl" rotWithShape="0">
                <a:srgbClr val="0F172A">
                  <a:alpha val="12000"/>
                </a:srgbClr>
              </a:outerShdw>
            </a:effectLst>
          </p:spPr>
        </p:sp>
        <p:sp>
          <p:nvSpPr>
            <p:cNvPr id="12" name="Freeform 12"/>
            <p:cNvSpPr/>
            <p:nvPr/>
          </p:nvSpPr>
          <p:spPr>
            <a:xfrm>
              <a:off x="8096250" y="1447800"/>
              <a:ext cx="2952750" cy="3733800"/>
            </a:xfrm>
            <a:custGeom>
              <a:avLst/>
              <a:gdLst/>
              <a:ahLst/>
              <a:cxnLst/>
              <a:rect l="l" t="t" r="r" b="b"/>
              <a:pathLst>
                <a:path w="2952750" h="3733800">
                  <a:moveTo>
                    <a:pt x="209550" y="0"/>
                  </a:moveTo>
                  <a:lnTo>
                    <a:pt x="2743200" y="0"/>
                  </a:lnTo>
                  <a:cubicBezTo>
                    <a:pt x="2858931" y="0"/>
                    <a:pt x="2952750" y="93819"/>
                    <a:pt x="2952750" y="209550"/>
                  </a:cubicBezTo>
                  <a:lnTo>
                    <a:pt x="2952750" y="3524250"/>
                  </a:lnTo>
                  <a:cubicBezTo>
                    <a:pt x="2952750" y="3639981"/>
                    <a:pt x="2858931" y="3733800"/>
                    <a:pt x="2743200" y="3733800"/>
                  </a:cubicBezTo>
                  <a:lnTo>
                    <a:pt x="209550" y="3733800"/>
                  </a:lnTo>
                  <a:cubicBezTo>
                    <a:pt x="93819" y="3733800"/>
                    <a:pt x="0" y="3639981"/>
                    <a:pt x="0" y="35242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8FAFC"/>
            </a:solidFill>
            <a:ln w="19050">
              <a:solidFill>
                <a:srgbClr val="CBD5E1"/>
              </a:solidFill>
              <a:custDash>
                <a:ds d="500000" sp="400000"/>
              </a:custDash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8458200" y="2171700"/>
              <a:ext cx="2247900" cy="2419350"/>
              <a:chOff x="8458200" y="2171700"/>
              <a:chExt cx="2247900" cy="24193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458200" y="2171700"/>
                <a:ext cx="22479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47900" h="133350">
                    <a:moveTo>
                      <a:pt x="66675" y="0"/>
                    </a:moveTo>
                    <a:lnTo>
                      <a:pt x="2181225" y="0"/>
                    </a:lnTo>
                    <a:cubicBezTo>
                      <a:pt x="2218049" y="0"/>
                      <a:pt x="2247900" y="29851"/>
                      <a:pt x="2247900" y="66675"/>
                    </a:cubicBezTo>
                    <a:lnTo>
                      <a:pt x="2247900" y="66675"/>
                    </a:lnTo>
                    <a:cubicBezTo>
                      <a:pt x="2247900" y="103499"/>
                      <a:pt x="2218049" y="133350"/>
                      <a:pt x="2181225" y="133350"/>
                    </a:cubicBezTo>
                    <a:lnTo>
                      <a:pt x="66675" y="133350"/>
                    </a:lnTo>
                    <a:cubicBezTo>
                      <a:pt x="29851" y="133350"/>
                      <a:pt x="0" y="103499"/>
                      <a:pt x="0" y="66675"/>
                    </a:cubicBezTo>
                    <a:lnTo>
                      <a:pt x="0" y="66675"/>
                    </a:lnTo>
                    <a:cubicBezTo>
                      <a:pt x="0" y="29851"/>
                      <a:pt x="29851" y="0"/>
                      <a:pt x="66675" y="0"/>
                    </a:cubicBezTo>
                    <a:close/>
                  </a:path>
                </a:pathLst>
              </a:cu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458200" y="2495550"/>
                <a:ext cx="17907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90700" h="133350">
                    <a:moveTo>
                      <a:pt x="66675" y="0"/>
                    </a:moveTo>
                    <a:lnTo>
                      <a:pt x="1724025" y="0"/>
                    </a:lnTo>
                    <a:cubicBezTo>
                      <a:pt x="1760849" y="0"/>
                      <a:pt x="1790700" y="29851"/>
                      <a:pt x="1790700" y="66675"/>
                    </a:cubicBezTo>
                    <a:lnTo>
                      <a:pt x="1790700" y="66675"/>
                    </a:lnTo>
                    <a:cubicBezTo>
                      <a:pt x="1790700" y="103499"/>
                      <a:pt x="1760849" y="133350"/>
                      <a:pt x="1724025" y="133350"/>
                    </a:cubicBezTo>
                    <a:lnTo>
                      <a:pt x="66675" y="133350"/>
                    </a:lnTo>
                    <a:cubicBezTo>
                      <a:pt x="29851" y="133350"/>
                      <a:pt x="0" y="103499"/>
                      <a:pt x="0" y="66675"/>
                    </a:cubicBezTo>
                    <a:lnTo>
                      <a:pt x="0" y="66675"/>
                    </a:lnTo>
                    <a:cubicBezTo>
                      <a:pt x="0" y="29851"/>
                      <a:pt x="29851" y="0"/>
                      <a:pt x="66675" y="0"/>
                    </a:cubicBezTo>
                    <a:close/>
                  </a:path>
                </a:pathLst>
              </a:cu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458200" y="4191000"/>
                <a:ext cx="14668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114300">
                    <a:moveTo>
                      <a:pt x="57150" y="0"/>
                    </a:moveTo>
                    <a:lnTo>
                      <a:pt x="1409700" y="0"/>
                    </a:lnTo>
                    <a:cubicBezTo>
                      <a:pt x="1441263" y="0"/>
                      <a:pt x="1466850" y="25587"/>
                      <a:pt x="1466850" y="57150"/>
                    </a:cubicBezTo>
                    <a:lnTo>
                      <a:pt x="1466850" y="57150"/>
                    </a:lnTo>
                    <a:cubicBezTo>
                      <a:pt x="1466850" y="88713"/>
                      <a:pt x="1441263" y="114300"/>
                      <a:pt x="1409700" y="114300"/>
                    </a:cubicBezTo>
                    <a:lnTo>
                      <a:pt x="57150" y="114300"/>
                    </a:lnTo>
                    <a:cubicBezTo>
                      <a:pt x="25587" y="114300"/>
                      <a:pt x="0" y="88713"/>
                      <a:pt x="0" y="571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458200" y="4476750"/>
                <a:ext cx="19621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962150" h="114300">
                    <a:moveTo>
                      <a:pt x="57150" y="0"/>
                    </a:moveTo>
                    <a:lnTo>
                      <a:pt x="1905000" y="0"/>
                    </a:lnTo>
                    <a:cubicBezTo>
                      <a:pt x="1936563" y="0"/>
                      <a:pt x="1962150" y="25587"/>
                      <a:pt x="1962150" y="57150"/>
                    </a:cubicBezTo>
                    <a:lnTo>
                      <a:pt x="1962150" y="57150"/>
                    </a:lnTo>
                    <a:cubicBezTo>
                      <a:pt x="1962150" y="88713"/>
                      <a:pt x="1936563" y="114300"/>
                      <a:pt x="1905000" y="114300"/>
                    </a:cubicBezTo>
                    <a:lnTo>
                      <a:pt x="57150" y="114300"/>
                    </a:lnTo>
                    <a:cubicBezTo>
                      <a:pt x="25587" y="114300"/>
                      <a:pt x="0" y="88713"/>
                      <a:pt x="0" y="571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8477250" y="2914650"/>
                <a:ext cx="914400" cy="9144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9458325" y="2800350"/>
                <a:ext cx="647700" cy="647700"/>
              </a:xfrm>
              <a:prstGeom prst="ellipse">
                <a:avLst/>
              </a:prstGeom>
              <a:solidFill>
                <a:srgbClr val="D1FAE5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10077450" y="3524250"/>
                <a:ext cx="419100" cy="4191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667750" y="3048000"/>
                <a:ext cx="1428750" cy="523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523875">
                    <a:moveTo>
                      <a:pt x="0" y="523875"/>
                    </a:moveTo>
                    <a:cubicBezTo>
                      <a:pt x="476250" y="0"/>
                      <a:pt x="952500" y="0"/>
                      <a:pt x="1428750" y="381000"/>
                    </a:cubicBezTo>
                  </a:path>
                </a:pathLst>
              </a:custGeom>
              <a:noFill/>
              <a:ln w="47625">
                <a:gradFill>
                  <a:gsLst>
                    <a:gs pos="0">
                      <a:srgbClr val="0F62FE">
                        <a:alpha val="90000"/>
                      </a:srgbClr>
                    </a:gs>
                    <a:gs pos="100000">
                      <a:srgbClr val="16A34A">
                        <a:alpha val="90000"/>
                      </a:srgbClr>
                    </a:gs>
                  </a:gsLst>
                  <a:lin ang="0" scaled="1"/>
                </a:gradFill>
              </a:ln>
            </p:spPr>
          </p:sp>
          <p:sp>
            <p:nvSpPr>
              <p:cNvPr id="21" name="Polygon 21"/>
              <p:cNvSpPr/>
              <p:nvPr/>
            </p:nvSpPr>
            <p:spPr>
              <a:xfrm>
                <a:off x="10039350" y="3371850"/>
                <a:ext cx="2000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9550">
                    <a:moveTo>
                      <a:pt x="0" y="0"/>
                    </a:moveTo>
                    <a:lnTo>
                      <a:pt x="200025" y="57150"/>
                    </a:lnTo>
                    <a:lnTo>
                      <a:pt x="57150" y="209550"/>
                    </a:lnTo>
                    <a:close/>
                  </a:path>
                </a:pathLst>
              </a:custGeom>
              <a:solidFill>
                <a:srgbClr val="16A34A"/>
              </a:solidFill>
              <a:ln>
                <a:noFill/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8562499" y="4807268"/>
              <a:ext cx="2020252" cy="512444"/>
              <a:chOff x="8562499" y="4807268"/>
              <a:chExt cx="2020252" cy="512444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8766810" y="4807268"/>
                <a:ext cx="161163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封面抽象背景占位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62499" y="5106352"/>
                <a:ext cx="20202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后续可替换为浅色商务抽象图</a:t>
                </a: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571500" y="742950"/>
            <a:ext cx="6191250" cy="5334000"/>
            <a:chOff x="571500" y="742950"/>
            <a:chExt cx="6191250" cy="5334000"/>
          </a:xfrm>
        </p:grpSpPr>
        <p:sp>
          <p:nvSpPr>
            <p:cNvPr id="27" name="Freeform 27"/>
            <p:cNvSpPr/>
            <p:nvPr/>
          </p:nvSpPr>
          <p:spPr>
            <a:xfrm>
              <a:off x="571500" y="742950"/>
              <a:ext cx="6191250" cy="5334000"/>
            </a:xfrm>
            <a:custGeom>
              <a:avLst/>
              <a:gdLst/>
              <a:ahLst/>
              <a:cxnLst/>
              <a:rect l="l" t="t" r="r" b="b"/>
              <a:pathLst>
                <a:path w="6191250" h="5334000">
                  <a:moveTo>
                    <a:pt x="266700" y="0"/>
                  </a:moveTo>
                  <a:lnTo>
                    <a:pt x="5924550" y="0"/>
                  </a:lnTo>
                  <a:cubicBezTo>
                    <a:pt x="6071844" y="0"/>
                    <a:pt x="6191250" y="119406"/>
                    <a:pt x="6191250" y="266700"/>
                  </a:cubicBezTo>
                  <a:lnTo>
                    <a:pt x="6191250" y="5067300"/>
                  </a:lnTo>
                  <a:cubicBezTo>
                    <a:pt x="6191250" y="5214594"/>
                    <a:pt x="6071844" y="5334000"/>
                    <a:pt x="5924550" y="5334000"/>
                  </a:cubicBezTo>
                  <a:lnTo>
                    <a:pt x="266700" y="5334000"/>
                  </a:lnTo>
                  <a:cubicBezTo>
                    <a:pt x="119406" y="5334000"/>
                    <a:pt x="0" y="5214594"/>
                    <a:pt x="0" y="5067300"/>
                  </a:cubicBezTo>
                  <a:lnTo>
                    <a:pt x="0" y="266700"/>
                  </a:ln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FFFFF">
                <a:alpha val="88000"/>
              </a:srgbClr>
            </a:solidFill>
            <a:ln w="9525">
              <a:solidFill>
                <a:srgbClr val="FFFFFF"/>
              </a:solidFill>
            </a:ln>
            <a:effectLst>
              <a:outerShdw blurRad="228600" dist="76200" dir="10799570" algn="tl" rotWithShape="0">
                <a:srgbClr val="0F172A">
                  <a:alpha val="12000"/>
                </a:srgbClr>
              </a:outerShdw>
            </a:effectLst>
          </p:spPr>
        </p:sp>
        <p:sp>
          <p:nvSpPr>
            <p:cNvPr id="28" name="Freeform 28"/>
            <p:cNvSpPr/>
            <p:nvPr/>
          </p:nvSpPr>
          <p:spPr>
            <a:xfrm>
              <a:off x="571500" y="742950"/>
              <a:ext cx="6191250" cy="5334000"/>
            </a:xfrm>
            <a:custGeom>
              <a:avLst/>
              <a:gdLst/>
              <a:ahLst/>
              <a:cxnLst/>
              <a:rect l="l" t="t" r="r" b="b"/>
              <a:pathLst>
                <a:path w="6191250" h="5334000">
                  <a:moveTo>
                    <a:pt x="266700" y="0"/>
                  </a:moveTo>
                  <a:lnTo>
                    <a:pt x="5924550" y="0"/>
                  </a:lnTo>
                  <a:cubicBezTo>
                    <a:pt x="6071844" y="0"/>
                    <a:pt x="6191250" y="119406"/>
                    <a:pt x="6191250" y="266700"/>
                  </a:cubicBezTo>
                  <a:lnTo>
                    <a:pt x="6191250" y="5067300"/>
                  </a:lnTo>
                  <a:cubicBezTo>
                    <a:pt x="6191250" y="5214594"/>
                    <a:pt x="6071844" y="5334000"/>
                    <a:pt x="5924550" y="5334000"/>
                  </a:cubicBezTo>
                  <a:lnTo>
                    <a:pt x="266700" y="5334000"/>
                  </a:lnTo>
                  <a:cubicBezTo>
                    <a:pt x="119406" y="5334000"/>
                    <a:pt x="0" y="5214594"/>
                    <a:pt x="0" y="5067300"/>
                  </a:cubicBezTo>
                  <a:lnTo>
                    <a:pt x="0" y="266700"/>
                  </a:ln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FFFFF">
                <a:alpha val="28000"/>
              </a:srgbClr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952500" y="1200150"/>
            <a:ext cx="3460290" cy="990600"/>
            <a:chOff x="952500" y="1200150"/>
            <a:chExt cx="3460290" cy="990600"/>
          </a:xfrm>
        </p:grpSpPr>
        <p:sp>
          <p:nvSpPr>
            <p:cNvPr id="30" name="Freeform 30"/>
            <p:cNvSpPr/>
            <p:nvPr/>
          </p:nvSpPr>
          <p:spPr>
            <a:xfrm>
              <a:off x="952500" y="1200150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228600" y="0"/>
                  </a:moveTo>
                  <a:lnTo>
                    <a:pt x="762000" y="0"/>
                  </a:lnTo>
                  <a:cubicBezTo>
                    <a:pt x="888252" y="0"/>
                    <a:pt x="990600" y="102348"/>
                    <a:pt x="990600" y="228600"/>
                  </a:cubicBezTo>
                  <a:lnTo>
                    <a:pt x="990600" y="762000"/>
                  </a:lnTo>
                  <a:cubicBezTo>
                    <a:pt x="990600" y="888252"/>
                    <a:pt x="888252" y="990600"/>
                    <a:pt x="762000" y="990600"/>
                  </a:cubicBezTo>
                  <a:lnTo>
                    <a:pt x="228600" y="990600"/>
                  </a:lnTo>
                  <a:cubicBezTo>
                    <a:pt x="102348" y="990600"/>
                    <a:pt x="0" y="888252"/>
                    <a:pt x="0" y="7620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1276350" y="1543050"/>
              <a:ext cx="342900" cy="314325"/>
              <a:chOff x="1276350" y="1543050"/>
              <a:chExt cx="342900" cy="3143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276350" y="1543050"/>
                <a:ext cx="34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9525">
                    <a:moveTo>
                      <a:pt x="0" y="0"/>
                    </a:moveTo>
                    <a:lnTo>
                      <a:pt x="342900" y="0"/>
                    </a:lnTo>
                  </a:path>
                </a:pathLst>
              </a:custGeom>
              <a:noFill/>
              <a:ln w="9525">
                <a:solidFill>
                  <a:srgbClr val="0F62FE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295400" y="1543050"/>
                <a:ext cx="3048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28600">
                    <a:moveTo>
                      <a:pt x="0" y="0"/>
                    </a:moveTo>
                    <a:lnTo>
                      <a:pt x="0" y="190500"/>
                    </a:lnTo>
                    <a:cubicBezTo>
                      <a:pt x="0" y="211542"/>
                      <a:pt x="17058" y="228600"/>
                      <a:pt x="38100" y="228600"/>
                    </a:cubicBezTo>
                    <a:lnTo>
                      <a:pt x="266700" y="228600"/>
                    </a:lnTo>
                    <a:cubicBezTo>
                      <a:pt x="287742" y="228600"/>
                      <a:pt x="304800" y="211542"/>
                      <a:pt x="304800" y="1905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9525">
                <a:solidFill>
                  <a:srgbClr val="0F62FE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447800" y="177165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9525">
                <a:solidFill>
                  <a:srgbClr val="0F62FE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390650" y="18478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9525">
                <a:solidFill>
                  <a:srgbClr val="0F62FE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371600" y="16192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57150" y="19050"/>
                    </a:lnTo>
                    <a:lnTo>
                      <a:pt x="95250" y="57150"/>
                    </a:lnTo>
                    <a:lnTo>
                      <a:pt x="152400" y="0"/>
                    </a:lnTo>
                  </a:path>
                </a:pathLst>
              </a:custGeom>
              <a:noFill/>
              <a:ln w="9525">
                <a:solidFill>
                  <a:srgbClr val="0F62FE"/>
                </a:solidFill>
              </a:ln>
            </p:spPr>
          </p:sp>
        </p:grpSp>
        <p:sp>
          <p:nvSpPr>
            <p:cNvPr id="37" name="Freeform 37"/>
            <p:cNvSpPr/>
            <p:nvPr/>
          </p:nvSpPr>
          <p:spPr>
            <a:xfrm>
              <a:off x="2114550" y="1543050"/>
              <a:ext cx="1428750" cy="114300"/>
            </a:xfrm>
            <a:custGeom>
              <a:avLst/>
              <a:gdLst/>
              <a:ahLst/>
              <a:cxnLst/>
              <a:rect l="l" t="t" r="r" b="b"/>
              <a:pathLst>
                <a:path w="1428750" h="11430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57150"/>
                  </a:lnTo>
                  <a:cubicBezTo>
                    <a:pt x="1428750" y="88713"/>
                    <a:pt x="1403163" y="114300"/>
                    <a:pt x="13716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gradFill>
              <a:gsLst>
                <a:gs pos="0">
                  <a:srgbClr val="0F62FE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093595" y="1774508"/>
              <a:ext cx="23191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62FE"/>
                  </a:solidFill>
                  <a:latin typeface="Arial"/>
                  <a:ea typeface="Microsoft YaHei"/>
                  <a:cs typeface="Arial"/>
                </a:rPr>
                <a:t>阶段性业务结果概览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01065" y="2496502"/>
            <a:ext cx="4051935" cy="1294448"/>
            <a:chOff x="901065" y="2496502"/>
            <a:chExt cx="4051935" cy="1294448"/>
          </a:xfrm>
        </p:grpSpPr>
        <p:sp>
          <p:nvSpPr>
            <p:cNvPr id="40" name="TextBox 40"/>
            <p:cNvSpPr txBox="1"/>
            <p:nvPr/>
          </p:nvSpPr>
          <p:spPr>
            <a:xfrm>
              <a:off x="901065" y="2496502"/>
              <a:ext cx="3829336" cy="822960"/>
            </a:xfrm>
            <a:prstGeom prst="rect">
              <a:avLst/>
            </a:prstGeom>
            <a:noFill/>
            <a:ln>
              <a:noFill/>
            </a:ln>
            <a:effectLst>
              <a:glow rad="95250">
                <a:srgbClr val="38BDF8">
                  <a:alpha val="35000"/>
                </a:srgbClr>
              </a:glo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本地联调测试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3925" y="3224212"/>
              <a:ext cx="350758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显示业务延续增长态势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52500" y="3733800"/>
              <a:ext cx="4000500" cy="57150"/>
            </a:xfrm>
            <a:custGeom>
              <a:avLst/>
              <a:gdLst/>
              <a:ahLst/>
              <a:cxnLst/>
              <a:rect l="l" t="t" r="r" b="b"/>
              <a:pathLst>
                <a:path w="4000500" h="57150">
                  <a:moveTo>
                    <a:pt x="28575" y="0"/>
                  </a:moveTo>
                  <a:lnTo>
                    <a:pt x="3971925" y="0"/>
                  </a:lnTo>
                  <a:cubicBezTo>
                    <a:pt x="3987707" y="0"/>
                    <a:pt x="4000500" y="12793"/>
                    <a:pt x="4000500" y="28575"/>
                  </a:cubicBezTo>
                  <a:lnTo>
                    <a:pt x="4000500" y="28575"/>
                  </a:lnTo>
                  <a:cubicBezTo>
                    <a:pt x="4000500" y="44357"/>
                    <a:pt x="3987707" y="57150"/>
                    <a:pt x="3971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0F62FE">
                    <a:alpha val="90000"/>
                  </a:srgbClr>
                </a:gs>
                <a:gs pos="100000">
                  <a:srgbClr val="16A34A">
                    <a:alpha val="90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952500" y="4133850"/>
            <a:ext cx="5772150" cy="1190625"/>
            <a:chOff x="952500" y="4133850"/>
            <a:chExt cx="5772150" cy="1190625"/>
          </a:xfrm>
        </p:grpSpPr>
        <p:sp>
          <p:nvSpPr>
            <p:cNvPr id="44" name="Freeform 44"/>
            <p:cNvSpPr/>
            <p:nvPr/>
          </p:nvSpPr>
          <p:spPr>
            <a:xfrm>
              <a:off x="952500" y="4133850"/>
              <a:ext cx="5143500" cy="1028700"/>
            </a:xfrm>
            <a:custGeom>
              <a:avLst/>
              <a:gdLst/>
              <a:ahLst/>
              <a:cxnLst/>
              <a:rect l="l" t="t" r="r" b="b"/>
              <a:pathLst>
                <a:path w="5143500" h="1028700">
                  <a:moveTo>
                    <a:pt x="171450" y="0"/>
                  </a:moveTo>
                  <a:lnTo>
                    <a:pt x="4972050" y="0"/>
                  </a:lnTo>
                  <a:cubicBezTo>
                    <a:pt x="5066739" y="0"/>
                    <a:pt x="5143500" y="76761"/>
                    <a:pt x="5143500" y="171450"/>
                  </a:cubicBezTo>
                  <a:lnTo>
                    <a:pt x="5143500" y="857250"/>
                  </a:lnTo>
                  <a:cubicBezTo>
                    <a:pt x="5143500" y="951939"/>
                    <a:pt x="5066739" y="1028700"/>
                    <a:pt x="4972050" y="1028700"/>
                  </a:cubicBezTo>
                  <a:lnTo>
                    <a:pt x="171450" y="1028700"/>
                  </a:lnTo>
                  <a:cubicBezTo>
                    <a:pt x="76761" y="1028700"/>
                    <a:pt x="0" y="951939"/>
                    <a:pt x="0" y="8572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8FAFC"/>
            </a:solidFill>
            <a:ln w="14288">
              <a:solidFill>
                <a:srgbClr val="CBD5E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65860" y="43662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核心结论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8240" y="4634865"/>
              <a:ext cx="55664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本次测试样本显示收入增长、区域增量集中、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240" y="4958715"/>
              <a:ext cx="30821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用户经营结构正在变化。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37260" y="5581650"/>
            <a:ext cx="5173980" cy="419100"/>
            <a:chOff x="937260" y="5581650"/>
            <a:chExt cx="5173980" cy="419100"/>
          </a:xfrm>
        </p:grpSpPr>
        <p:sp>
          <p:nvSpPr>
            <p:cNvPr id="49" name="Line 49"/>
            <p:cNvSpPr/>
            <p:nvPr/>
          </p:nvSpPr>
          <p:spPr>
            <a:xfrm>
              <a:off x="952500" y="55816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37260" y="5756910"/>
              <a:ext cx="22212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基于 source_text.md 提炼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128647" y="5756910"/>
              <a:ext cx="39825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源文档仅包含3条业务结论，封面页不扩展额外事实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182350" y="819150"/>
            <a:ext cx="723900" cy="190500"/>
            <a:chOff x="11182350" y="819150"/>
            <a:chExt cx="723900" cy="190500"/>
          </a:xfrm>
        </p:grpSpPr>
        <p:sp>
          <p:nvSpPr>
            <p:cNvPr id="53" name="Ellipse 53"/>
            <p:cNvSpPr/>
            <p:nvPr/>
          </p:nvSpPr>
          <p:spPr>
            <a:xfrm>
              <a:off x="11182350" y="819150"/>
              <a:ext cx="190500" cy="190500"/>
            </a:xfrm>
            <a:prstGeom prst="ellipse">
              <a:avLst/>
            </a:prstGeom>
            <a:solidFill>
              <a:srgbClr val="38BDF8">
                <a:alpha val="55000"/>
              </a:srgbClr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11449050" y="819150"/>
              <a:ext cx="190500" cy="190500"/>
            </a:xfrm>
            <a:prstGeom prst="ellipse">
              <a:avLst/>
            </a:prstGeom>
            <a:solidFill>
              <a:srgbClr val="16A34A">
                <a:alpha val="55000"/>
              </a:srgbClr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11715750" y="819150"/>
              <a:ext cx="190500" cy="190500"/>
            </a:xfrm>
            <a:prstGeom prst="ellipse">
              <a:avLst/>
            </a:prstGeom>
            <a:solidFill>
              <a:srgbClr val="0F62FE">
                <a:alpha val="55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AFC"/>
              </a:gs>
            </a:gsLst>
            <a:lin ang="270000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14350" y="190500"/>
            <a:ext cx="11325225" cy="1790700"/>
            <a:chOff x="514350" y="190500"/>
            <a:chExt cx="11325225" cy="1790700"/>
          </a:xfrm>
        </p:grpSpPr>
        <p:sp>
          <p:nvSpPr>
            <p:cNvPr id="3" name="Ellipse 3"/>
            <p:cNvSpPr/>
            <p:nvPr/>
          </p:nvSpPr>
          <p:spPr>
            <a:xfrm>
              <a:off x="9925050" y="190500"/>
              <a:ext cx="1676400" cy="1676400"/>
            </a:xfrm>
            <a:prstGeom prst="ellipse">
              <a:avLst/>
            </a:prstGeom>
            <a:solidFill>
              <a:srgbClr val="38BDF8">
                <a:alpha val="8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925175" y="1066800"/>
              <a:ext cx="914400" cy="914400"/>
            </a:xfrm>
            <a:prstGeom prst="ellipse">
              <a:avLst/>
            </a:prstGeom>
            <a:solidFill>
              <a:srgbClr val="16A34A">
                <a:alpha val="8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877425" y="419100"/>
              <a:ext cx="533400" cy="533400"/>
            </a:xfrm>
            <a:prstGeom prst="ellipse">
              <a:avLst/>
            </a:prstGeom>
            <a:solidFill>
              <a:srgbClr val="0F62FE">
                <a:alpha val="6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14350" y="914400"/>
              <a:ext cx="111633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42925" y="538162"/>
            <a:ext cx="7648099" cy="904876"/>
            <a:chOff x="542925" y="538162"/>
            <a:chExt cx="7648099" cy="904876"/>
          </a:xfrm>
        </p:grpSpPr>
        <p:sp>
          <p:nvSpPr>
            <p:cNvPr id="8" name="TextBox 8"/>
            <p:cNvSpPr txBox="1"/>
            <p:nvPr/>
          </p:nvSpPr>
          <p:spPr>
            <a:xfrm>
              <a:off x="542925" y="538162"/>
              <a:ext cx="764809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增长由华东拉动，但获客效率承压、复购表现改善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71500" y="971550"/>
              <a:ext cx="3048000" cy="57150"/>
            </a:xfrm>
            <a:custGeom>
              <a:avLst/>
              <a:gdLst/>
              <a:ahLst/>
              <a:cxnLst/>
              <a:rect l="l" t="t" r="r" b="b"/>
              <a:pathLst>
                <a:path w="3048000" h="57150">
                  <a:moveTo>
                    <a:pt x="28575" y="0"/>
                  </a:moveTo>
                  <a:lnTo>
                    <a:pt x="3019425" y="0"/>
                  </a:lnTo>
                  <a:cubicBezTo>
                    <a:pt x="3035207" y="0"/>
                    <a:pt x="3048000" y="12793"/>
                    <a:pt x="3048000" y="28575"/>
                  </a:cubicBezTo>
                  <a:lnTo>
                    <a:pt x="3048000" y="28575"/>
                  </a:lnTo>
                  <a:cubicBezTo>
                    <a:pt x="3048000" y="44357"/>
                    <a:pt x="3035207" y="57150"/>
                    <a:pt x="3019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0F62FE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  <a:effectLst>
              <a:glow rad="95250">
                <a:srgbClr val="38BDF8">
                  <a:alpha val="30000"/>
                </a:srgbClr>
              </a:glo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554355" y="1168718"/>
              <a:ext cx="68168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当前业务信号呈现“收入增长 + 区域集中 + 拉新承压但留存改善”的组合特征。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562100"/>
            <a:ext cx="11663957" cy="685800"/>
            <a:chOff x="571500" y="1562100"/>
            <a:chExt cx="11663957" cy="685800"/>
          </a:xfrm>
        </p:grpSpPr>
        <p:sp>
          <p:nvSpPr>
            <p:cNvPr id="12" name="Freeform 12"/>
            <p:cNvSpPr/>
            <p:nvPr/>
          </p:nvSpPr>
          <p:spPr>
            <a:xfrm>
              <a:off x="571500" y="1562100"/>
              <a:ext cx="11049000" cy="685800"/>
            </a:xfrm>
            <a:custGeom>
              <a:avLst/>
              <a:gdLst/>
              <a:ahLst/>
              <a:cxnLst/>
              <a:rect l="l" t="t" r="r" b="b"/>
              <a:pathLst>
                <a:path w="11049000" h="685800">
                  <a:moveTo>
                    <a:pt x="152400" y="0"/>
                  </a:moveTo>
                  <a:lnTo>
                    <a:pt x="10896600" y="0"/>
                  </a:lnTo>
                  <a:cubicBezTo>
                    <a:pt x="10980768" y="0"/>
                    <a:pt x="11049000" y="68232"/>
                    <a:pt x="11049000" y="152400"/>
                  </a:cubicBezTo>
                  <a:lnTo>
                    <a:pt x="11049000" y="533400"/>
                  </a:lnTo>
                  <a:cubicBezTo>
                    <a:pt x="11049000" y="617568"/>
                    <a:pt x="10980768" y="685800"/>
                    <a:pt x="10896600" y="685800"/>
                  </a:cubicBezTo>
                  <a:lnTo>
                    <a:pt x="152400" y="685800"/>
                  </a:lnTo>
                  <a:cubicBezTo>
                    <a:pt x="68232" y="685800"/>
                    <a:pt x="0" y="617568"/>
                    <a:pt x="0" y="533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00100" y="1752600"/>
              <a:ext cx="1581150" cy="323850"/>
              <a:chOff x="800100" y="1752600"/>
              <a:chExt cx="1581150" cy="3238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00100" y="1752600"/>
                <a:ext cx="158115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581150" h="304800">
                    <a:moveTo>
                      <a:pt x="152400" y="0"/>
                    </a:moveTo>
                    <a:lnTo>
                      <a:pt x="1428750" y="0"/>
                    </a:lnTo>
                    <a:cubicBezTo>
                      <a:pt x="1512918" y="0"/>
                      <a:pt x="1581150" y="68232"/>
                      <a:pt x="1581150" y="152400"/>
                    </a:cubicBezTo>
                    <a:lnTo>
                      <a:pt x="1581150" y="152400"/>
                    </a:lnTo>
                    <a:cubicBezTo>
                      <a:pt x="1581150" y="236568"/>
                      <a:pt x="1512918" y="304800"/>
                      <a:pt x="1428750" y="304800"/>
                    </a:cubicBezTo>
                    <a:lnTo>
                      <a:pt x="152400" y="304800"/>
                    </a:lnTo>
                    <a:cubicBezTo>
                      <a:pt x="68232" y="304800"/>
                      <a:pt x="0" y="236568"/>
                      <a:pt x="0" y="1524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0F62FE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23366" y="183261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62FE"/>
                    </a:solidFill>
                    <a:latin typeface="Arial"/>
                    <a:ea typeface="Microsoft YaHei"/>
                    <a:cs typeface="Arial"/>
                  </a:rPr>
                  <a:t>收入保持增长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552700" y="1752600"/>
              <a:ext cx="1581150" cy="323850"/>
              <a:chOff x="2552700" y="1752600"/>
              <a:chExt cx="1581150" cy="3238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552700" y="1752600"/>
                <a:ext cx="158115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581150" h="304800">
                    <a:moveTo>
                      <a:pt x="152400" y="0"/>
                    </a:moveTo>
                    <a:lnTo>
                      <a:pt x="1428750" y="0"/>
                    </a:lnTo>
                    <a:cubicBezTo>
                      <a:pt x="1512918" y="0"/>
                      <a:pt x="1581150" y="68232"/>
                      <a:pt x="1581150" y="152400"/>
                    </a:cubicBezTo>
                    <a:lnTo>
                      <a:pt x="1581150" y="152400"/>
                    </a:lnTo>
                    <a:cubicBezTo>
                      <a:pt x="1581150" y="236568"/>
                      <a:pt x="1512918" y="304800"/>
                      <a:pt x="1428750" y="304800"/>
                    </a:cubicBezTo>
                    <a:lnTo>
                      <a:pt x="152400" y="304800"/>
                    </a:lnTo>
                    <a:cubicBezTo>
                      <a:pt x="68232" y="304800"/>
                      <a:pt x="0" y="236568"/>
                      <a:pt x="0" y="1524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16A34A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775966" y="183261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6A34A"/>
                    </a:solidFill>
                    <a:latin typeface="Arial"/>
                    <a:ea typeface="Microsoft YaHei"/>
                    <a:cs typeface="Arial"/>
                  </a:rPr>
                  <a:t>区域增量集中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05300" y="1752600"/>
              <a:ext cx="2362200" cy="323850"/>
              <a:chOff x="4305300" y="1752600"/>
              <a:chExt cx="2362200" cy="3238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305300" y="1752600"/>
                <a:ext cx="23622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362200" h="304800">
                    <a:moveTo>
                      <a:pt x="152400" y="0"/>
                    </a:moveTo>
                    <a:lnTo>
                      <a:pt x="2209800" y="0"/>
                    </a:lnTo>
                    <a:cubicBezTo>
                      <a:pt x="2293968" y="0"/>
                      <a:pt x="2362200" y="68232"/>
                      <a:pt x="2362200" y="152400"/>
                    </a:cubicBezTo>
                    <a:lnTo>
                      <a:pt x="2362200" y="152400"/>
                    </a:lnTo>
                    <a:cubicBezTo>
                      <a:pt x="2362200" y="236568"/>
                      <a:pt x="2293968" y="304800"/>
                      <a:pt x="2209800" y="304800"/>
                    </a:cubicBezTo>
                    <a:lnTo>
                      <a:pt x="152400" y="304800"/>
                    </a:lnTo>
                    <a:cubicBezTo>
                      <a:pt x="68232" y="304800"/>
                      <a:pt x="0" y="236568"/>
                      <a:pt x="0" y="1524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0F62FE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459034" y="1832610"/>
                <a:ext cx="205473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拉新承压，存量经营改善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7072312" y="1840706"/>
              <a:ext cx="51631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业务含义：增长并未失速，但增长质量正转向“区域聚焦 + 存量优化”。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571500" y="2552700"/>
            <a:ext cx="11422190" cy="3333750"/>
            <a:chOff x="571500" y="2552700"/>
            <a:chExt cx="11422190" cy="3333750"/>
          </a:xfrm>
        </p:grpSpPr>
        <p:grpSp>
          <p:nvGrpSpPr>
            <p:cNvPr id="44" name="Group 44"/>
            <p:cNvGrpSpPr/>
            <p:nvPr/>
          </p:nvGrpSpPr>
          <p:grpSpPr>
            <a:xfrm>
              <a:off x="571500" y="2552700"/>
              <a:ext cx="3524250" cy="3333750"/>
              <a:chOff x="571500" y="2552700"/>
              <a:chExt cx="3524250" cy="33337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571500" y="2552700"/>
                <a:ext cx="3524250" cy="3333750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3333750">
                    <a:moveTo>
                      <a:pt x="152400" y="0"/>
                    </a:moveTo>
                    <a:lnTo>
                      <a:pt x="3371850" y="0"/>
                    </a:lnTo>
                    <a:cubicBezTo>
                      <a:pt x="3456018" y="0"/>
                      <a:pt x="3524250" y="68232"/>
                      <a:pt x="3524250" y="152400"/>
                    </a:cubicBezTo>
                    <a:lnTo>
                      <a:pt x="3524250" y="3181350"/>
                    </a:lnTo>
                    <a:cubicBezTo>
                      <a:pt x="3524250" y="3265518"/>
                      <a:pt x="3456018" y="3333750"/>
                      <a:pt x="3371850" y="3333750"/>
                    </a:cubicBezTo>
                    <a:lnTo>
                      <a:pt x="152400" y="3333750"/>
                    </a:lnTo>
                    <a:cubicBezTo>
                      <a:pt x="68232" y="3333750"/>
                      <a:pt x="0" y="3265518"/>
                      <a:pt x="0" y="31813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90500" dist="57150" dir="10799427" algn="tl" rotWithShape="0">
                  <a:srgbClr val="0F172A">
                    <a:alpha val="10000"/>
                  </a:srgbClr>
                </a:outerShdw>
              </a:effectLst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71500" y="2552700"/>
                <a:ext cx="3524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952500">
                    <a:moveTo>
                      <a:pt x="152400" y="0"/>
                    </a:moveTo>
                    <a:lnTo>
                      <a:pt x="3371850" y="0"/>
                    </a:lnTo>
                    <a:cubicBezTo>
                      <a:pt x="3456018" y="0"/>
                      <a:pt x="3524250" y="68232"/>
                      <a:pt x="3524250" y="152400"/>
                    </a:cubicBezTo>
                    <a:lnTo>
                      <a:pt x="3524250" y="800100"/>
                    </a:lnTo>
                    <a:cubicBezTo>
                      <a:pt x="3524250" y="884268"/>
                      <a:pt x="3456018" y="952500"/>
                      <a:pt x="3371850" y="952500"/>
                    </a:cubicBezTo>
                    <a:lnTo>
                      <a:pt x="152400" y="952500"/>
                    </a:lnTo>
                    <a:cubicBezTo>
                      <a:pt x="68232" y="952500"/>
                      <a:pt x="0" y="884268"/>
                      <a:pt x="0" y="8001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FF6FF"/>
                  </a:gs>
                  <a:gs pos="100000">
                    <a:srgbClr val="F8FAFC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571500" y="3352800"/>
                <a:ext cx="3524250" cy="9525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800100" y="2781300"/>
                <a:ext cx="495300" cy="495300"/>
                <a:chOff x="800100" y="2781300"/>
                <a:chExt cx="495300" cy="495300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800100" y="2781300"/>
                  <a:ext cx="495300" cy="495300"/>
                </a:xfrm>
                <a:prstGeom prst="ellipse">
                  <a:avLst/>
                </a:prstGeom>
                <a:solidFill>
                  <a:srgbClr val="0F62FE">
                    <a:alpha val="12000"/>
                  </a:srgbClr>
                </a:solidFill>
                <a:ln>
                  <a:noFill/>
                </a:ln>
              </p:spPr>
            </p:sp>
            <p:grpSp>
              <p:nvGrpSpPr>
                <p:cNvPr id="32" name="Group 32"/>
                <p:cNvGrpSpPr/>
                <p:nvPr/>
              </p:nvGrpSpPr>
              <p:grpSpPr>
                <a:xfrm>
                  <a:off x="933450" y="2927350"/>
                  <a:ext cx="228600" cy="212725"/>
                  <a:chOff x="933450" y="2927350"/>
                  <a:chExt cx="228600" cy="212725"/>
                </a:xfrm>
              </p:grpSpPr>
              <p:sp>
                <p:nvSpPr>
                  <p:cNvPr id="28" name="Freeform 28"/>
                  <p:cNvSpPr/>
                  <p:nvPr/>
                </p:nvSpPr>
                <p:spPr>
                  <a:xfrm>
                    <a:off x="933450" y="3028950"/>
                    <a:ext cx="76200" cy="101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101600">
                        <a:moveTo>
                          <a:pt x="0" y="12700"/>
                        </a:moveTo>
                        <a:cubicBezTo>
                          <a:pt x="0" y="5686"/>
                          <a:pt x="5686" y="0"/>
                          <a:pt x="12700" y="0"/>
                        </a:cubicBezTo>
                        <a:lnTo>
                          <a:pt x="63500" y="0"/>
                        </a:lnTo>
                        <a:cubicBezTo>
                          <a:pt x="70514" y="0"/>
                          <a:pt x="76200" y="5686"/>
                          <a:pt x="76200" y="12700"/>
                        </a:cubicBezTo>
                        <a:lnTo>
                          <a:pt x="76200" y="88900"/>
                        </a:lnTo>
                        <a:cubicBezTo>
                          <a:pt x="76200" y="95914"/>
                          <a:pt x="70514" y="101600"/>
                          <a:pt x="63500" y="101600"/>
                        </a:cubicBezTo>
                        <a:lnTo>
                          <a:pt x="12700" y="101600"/>
                        </a:lnTo>
                        <a:cubicBezTo>
                          <a:pt x="5686" y="101600"/>
                          <a:pt x="0" y="95914"/>
                          <a:pt x="0" y="88900"/>
                        </a:cubicBezTo>
                        <a:lnTo>
                          <a:pt x="0" y="1270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</p:sp>
              <p:sp>
                <p:nvSpPr>
                  <p:cNvPr id="29" name="Freeform 29"/>
                  <p:cNvSpPr/>
                  <p:nvPr/>
                </p:nvSpPr>
                <p:spPr>
                  <a:xfrm>
                    <a:off x="1085850" y="2978150"/>
                    <a:ext cx="76200" cy="152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152400">
                        <a:moveTo>
                          <a:pt x="0" y="12700"/>
                        </a:moveTo>
                        <a:cubicBezTo>
                          <a:pt x="0" y="5686"/>
                          <a:pt x="5686" y="0"/>
                          <a:pt x="12700" y="0"/>
                        </a:cubicBezTo>
                        <a:lnTo>
                          <a:pt x="63500" y="0"/>
                        </a:lnTo>
                        <a:cubicBezTo>
                          <a:pt x="70514" y="0"/>
                          <a:pt x="76200" y="5686"/>
                          <a:pt x="76200" y="12700"/>
                        </a:cubicBezTo>
                        <a:lnTo>
                          <a:pt x="76200" y="139700"/>
                        </a:lnTo>
                        <a:cubicBezTo>
                          <a:pt x="76200" y="146714"/>
                          <a:pt x="70514" y="152400"/>
                          <a:pt x="63500" y="152400"/>
                        </a:cubicBezTo>
                        <a:lnTo>
                          <a:pt x="12700" y="152400"/>
                        </a:lnTo>
                        <a:cubicBezTo>
                          <a:pt x="5686" y="152400"/>
                          <a:pt x="0" y="146714"/>
                          <a:pt x="0" y="139700"/>
                        </a:cubicBezTo>
                        <a:lnTo>
                          <a:pt x="0" y="1270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</p:sp>
              <p:sp>
                <p:nvSpPr>
                  <p:cNvPr id="30" name="Freeform 30"/>
                  <p:cNvSpPr/>
                  <p:nvPr/>
                </p:nvSpPr>
                <p:spPr>
                  <a:xfrm>
                    <a:off x="1009650" y="2927350"/>
                    <a:ext cx="76200" cy="203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203200">
                        <a:moveTo>
                          <a:pt x="0" y="12700"/>
                        </a:moveTo>
                        <a:cubicBezTo>
                          <a:pt x="0" y="5686"/>
                          <a:pt x="5686" y="0"/>
                          <a:pt x="12700" y="0"/>
                        </a:cubicBezTo>
                        <a:lnTo>
                          <a:pt x="63500" y="0"/>
                        </a:lnTo>
                        <a:cubicBezTo>
                          <a:pt x="70514" y="0"/>
                          <a:pt x="76200" y="5686"/>
                          <a:pt x="76200" y="12700"/>
                        </a:cubicBezTo>
                        <a:lnTo>
                          <a:pt x="76200" y="190500"/>
                        </a:lnTo>
                        <a:cubicBezTo>
                          <a:pt x="76200" y="197514"/>
                          <a:pt x="70514" y="203200"/>
                          <a:pt x="63500" y="203200"/>
                        </a:cubicBezTo>
                        <a:lnTo>
                          <a:pt x="12700" y="203200"/>
                        </a:lnTo>
                        <a:cubicBezTo>
                          <a:pt x="5686" y="203200"/>
                          <a:pt x="0" y="197514"/>
                          <a:pt x="0" y="190500"/>
                        </a:cubicBezTo>
                        <a:lnTo>
                          <a:pt x="0" y="1270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</p:sp>
              <p:sp>
                <p:nvSpPr>
                  <p:cNvPr id="31" name="Freeform 31"/>
                  <p:cNvSpPr/>
                  <p:nvPr/>
                </p:nvSpPr>
                <p:spPr>
                  <a:xfrm>
                    <a:off x="946150" y="3130550"/>
                    <a:ext cx="177800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800" h="9525">
                        <a:moveTo>
                          <a:pt x="0" y="0"/>
                        </a:moveTo>
                        <a:lnTo>
                          <a:pt x="177800" y="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</p:sp>
            </p:grpSp>
          </p:grpSp>
          <p:sp>
            <p:nvSpPr>
              <p:cNvPr id="34" name="TextBox 34"/>
              <p:cNvSpPr txBox="1"/>
              <p:nvPr/>
            </p:nvSpPr>
            <p:spPr>
              <a:xfrm>
                <a:off x="1386840" y="2777490"/>
                <a:ext cx="208837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收入同比增长18%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394460" y="3089910"/>
                <a:ext cx="26593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整体规模继续扩张，增长信号明确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96290" y="3539490"/>
                <a:ext cx="1152449" cy="975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rgbClr val="0F62FE"/>
                    </a:solidFill>
                    <a:latin typeface="Arial"/>
                    <a:ea typeface="SimHei"/>
                    <a:cs typeface="Arial"/>
                  </a:rPr>
                  <a:t>18%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40105" y="4254818"/>
                <a:ext cx="8229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同比增幅</a:t>
                </a:r>
              </a:p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857250" y="4762500"/>
                <a:ext cx="2952750" cy="419100"/>
                <a:chOff x="857250" y="4762500"/>
                <a:chExt cx="2952750" cy="419100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857250" y="4762500"/>
                  <a:ext cx="2952750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0" h="419100">
                      <a:moveTo>
                        <a:pt x="114300" y="0"/>
                      </a:moveTo>
                      <a:lnTo>
                        <a:pt x="2838450" y="0"/>
                      </a:lnTo>
                      <a:cubicBezTo>
                        <a:pt x="2901576" y="0"/>
                        <a:pt x="2952750" y="51174"/>
                        <a:pt x="2952750" y="114300"/>
                      </a:cubicBezTo>
                      <a:lnTo>
                        <a:pt x="2952750" y="304800"/>
                      </a:lnTo>
                      <a:cubicBezTo>
                        <a:pt x="2952750" y="367926"/>
                        <a:pt x="2901576" y="419100"/>
                        <a:pt x="2838450" y="419100"/>
                      </a:cubicBezTo>
                      <a:lnTo>
                        <a:pt x="114300" y="419100"/>
                      </a:lnTo>
                      <a:cubicBezTo>
                        <a:pt x="51174" y="419100"/>
                        <a:pt x="0" y="367926"/>
                        <a:pt x="0" y="3048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1031558" y="4891564"/>
                  <a:ext cx="2611445" cy="259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75" dirty="0">
                      <a:solidFill>
                        <a:srgbClr val="0F172A"/>
                      </a:solidFill>
                      <a:latin typeface="Arial"/>
                      <a:ea typeface="Microsoft YaHei"/>
                      <a:cs typeface="Arial"/>
                    </a:rPr>
                    <a:t>• 样本结果显示收入端延续上行</a:t>
                  </a:r>
                </a:p>
              </p:txBody>
            </p:sp>
          </p:grpSp>
          <p:grpSp>
            <p:nvGrpSpPr>
              <p:cNvPr id="43" name="Group 43"/>
              <p:cNvGrpSpPr/>
              <p:nvPr/>
            </p:nvGrpSpPr>
            <p:grpSpPr>
              <a:xfrm>
                <a:off x="857250" y="5276850"/>
                <a:ext cx="2952750" cy="419100"/>
                <a:chOff x="857250" y="5276850"/>
                <a:chExt cx="2952750" cy="41910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857250" y="5276850"/>
                  <a:ext cx="2952750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0" h="419100">
                      <a:moveTo>
                        <a:pt x="114300" y="0"/>
                      </a:moveTo>
                      <a:lnTo>
                        <a:pt x="2838450" y="0"/>
                      </a:lnTo>
                      <a:cubicBezTo>
                        <a:pt x="2901576" y="0"/>
                        <a:pt x="2952750" y="51174"/>
                        <a:pt x="2952750" y="114300"/>
                      </a:cubicBezTo>
                      <a:lnTo>
                        <a:pt x="2952750" y="304800"/>
                      </a:lnTo>
                      <a:cubicBezTo>
                        <a:pt x="2952750" y="367926"/>
                        <a:pt x="2901576" y="419100"/>
                        <a:pt x="2838450" y="419100"/>
                      </a:cubicBezTo>
                      <a:lnTo>
                        <a:pt x="114300" y="419100"/>
                      </a:lnTo>
                      <a:cubicBezTo>
                        <a:pt x="51174" y="419100"/>
                        <a:pt x="0" y="367926"/>
                        <a:pt x="0" y="3048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1031558" y="5405914"/>
                  <a:ext cx="2611445" cy="259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75" dirty="0">
                      <a:solidFill>
                        <a:srgbClr val="0F172A"/>
                      </a:solidFill>
                      <a:latin typeface="Arial"/>
                      <a:ea typeface="Microsoft YaHei"/>
                      <a:cs typeface="Arial"/>
                    </a:rPr>
                    <a:t>• 为后续经营判断提供积极基线</a:t>
                  </a:r>
                </a:p>
              </p:txBody>
            </p:sp>
          </p:grpSp>
        </p:grpSp>
        <p:grpSp>
          <p:nvGrpSpPr>
            <p:cNvPr id="65" name="Group 65"/>
            <p:cNvGrpSpPr/>
            <p:nvPr/>
          </p:nvGrpSpPr>
          <p:grpSpPr>
            <a:xfrm>
              <a:off x="4333875" y="2552700"/>
              <a:ext cx="3657600" cy="3333750"/>
              <a:chOff x="4333875" y="2552700"/>
              <a:chExt cx="3657600" cy="333375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4333875" y="2552700"/>
                <a:ext cx="3524250" cy="3333750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3333750">
                    <a:moveTo>
                      <a:pt x="152400" y="0"/>
                    </a:moveTo>
                    <a:lnTo>
                      <a:pt x="3371850" y="0"/>
                    </a:lnTo>
                    <a:cubicBezTo>
                      <a:pt x="3456018" y="0"/>
                      <a:pt x="3524250" y="68232"/>
                      <a:pt x="3524250" y="152400"/>
                    </a:cubicBezTo>
                    <a:lnTo>
                      <a:pt x="3524250" y="3181350"/>
                    </a:lnTo>
                    <a:cubicBezTo>
                      <a:pt x="3524250" y="3265518"/>
                      <a:pt x="3456018" y="3333750"/>
                      <a:pt x="3371850" y="3333750"/>
                    </a:cubicBezTo>
                    <a:lnTo>
                      <a:pt x="152400" y="3333750"/>
                    </a:lnTo>
                    <a:cubicBezTo>
                      <a:pt x="68232" y="3333750"/>
                      <a:pt x="0" y="3265518"/>
                      <a:pt x="0" y="31813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90500" dist="57150" dir="10799427" algn="tl" rotWithShape="0">
                  <a:srgbClr val="0F172A">
                    <a:alpha val="10000"/>
                  </a:srgbClr>
                </a:outerShdw>
              </a:effectLst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333875" y="2552700"/>
                <a:ext cx="3524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952500">
                    <a:moveTo>
                      <a:pt x="152400" y="0"/>
                    </a:moveTo>
                    <a:lnTo>
                      <a:pt x="3371850" y="0"/>
                    </a:lnTo>
                    <a:cubicBezTo>
                      <a:pt x="3456018" y="0"/>
                      <a:pt x="3524250" y="68232"/>
                      <a:pt x="3524250" y="152400"/>
                    </a:cubicBezTo>
                    <a:lnTo>
                      <a:pt x="3524250" y="800100"/>
                    </a:lnTo>
                    <a:cubicBezTo>
                      <a:pt x="3524250" y="884268"/>
                      <a:pt x="3456018" y="952500"/>
                      <a:pt x="3371850" y="952500"/>
                    </a:cubicBezTo>
                    <a:lnTo>
                      <a:pt x="152400" y="952500"/>
                    </a:lnTo>
                    <a:cubicBezTo>
                      <a:pt x="68232" y="952500"/>
                      <a:pt x="0" y="884268"/>
                      <a:pt x="0" y="8001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DF4"/>
                  </a:gs>
                  <a:gs pos="100000">
                    <a:srgbClr val="F8FAFC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4333875" y="3352800"/>
                <a:ext cx="3524250" cy="9525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4562475" y="2781300"/>
                <a:ext cx="495300" cy="495300"/>
                <a:chOff x="4562475" y="2781300"/>
                <a:chExt cx="495300" cy="495300"/>
              </a:xfrm>
            </p:grpSpPr>
            <p:sp>
              <p:nvSpPr>
                <p:cNvPr id="48" name="Ellipse 48"/>
                <p:cNvSpPr/>
                <p:nvPr/>
              </p:nvSpPr>
              <p:spPr>
                <a:xfrm>
                  <a:off x="4562475" y="2781300"/>
                  <a:ext cx="495300" cy="495300"/>
                </a:xfrm>
                <a:prstGeom prst="ellipse">
                  <a:avLst/>
                </a:prstGeom>
                <a:solidFill>
                  <a:srgbClr val="16A34A">
                    <a:alpha val="12000"/>
                  </a:srgbClr>
                </a:solidFill>
                <a:ln>
                  <a:noFill/>
                </a:ln>
              </p:spPr>
            </p:sp>
            <p:grpSp>
              <p:nvGrpSpPr>
                <p:cNvPr id="51" name="Group 51"/>
                <p:cNvGrpSpPr/>
                <p:nvPr/>
              </p:nvGrpSpPr>
              <p:grpSpPr>
                <a:xfrm>
                  <a:off x="4698605" y="2904735"/>
                  <a:ext cx="223039" cy="247153"/>
                  <a:chOff x="4698605" y="2904735"/>
                  <a:chExt cx="223039" cy="247153"/>
                </a:xfrm>
              </p:grpSpPr>
              <p:sp>
                <p:nvSpPr>
                  <p:cNvPr id="49" name="Freeform 49"/>
                  <p:cNvSpPr/>
                  <p:nvPr/>
                </p:nvSpPr>
                <p:spPr>
                  <a:xfrm>
                    <a:off x="4772025" y="2978150"/>
                    <a:ext cx="76200" cy="76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76200">
                        <a:moveTo>
                          <a:pt x="0" y="38100"/>
                        </a:moveTo>
                        <a:cubicBezTo>
                          <a:pt x="0" y="59142"/>
                          <a:pt x="17058" y="76200"/>
                          <a:pt x="38100" y="76200"/>
                        </a:cubicBezTo>
                        <a:cubicBezTo>
                          <a:pt x="59142" y="76200"/>
                          <a:pt x="76200" y="59142"/>
                          <a:pt x="76200" y="38100"/>
                        </a:cubicBezTo>
                        <a:cubicBezTo>
                          <a:pt x="76200" y="17058"/>
                          <a:pt x="59142" y="0"/>
                          <a:pt x="38100" y="0"/>
                        </a:cubicBezTo>
                        <a:cubicBezTo>
                          <a:pt x="17058" y="0"/>
                          <a:pt x="0" y="17058"/>
                          <a:pt x="0" y="38100"/>
                        </a:cubicBezTo>
                      </a:path>
                    </a:pathLst>
                  </a:custGeom>
                  <a:noFill/>
                  <a:ln>
                    <a:noFill/>
                  </a:ln>
                </p:spPr>
              </p:sp>
              <p:sp>
                <p:nvSpPr>
                  <p:cNvPr id="50" name="Freeform 50"/>
                  <p:cNvSpPr/>
                  <p:nvPr/>
                </p:nvSpPr>
                <p:spPr>
                  <a:xfrm>
                    <a:off x="4698605" y="2904735"/>
                    <a:ext cx="223039" cy="2471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039" h="247153">
                        <a:moveTo>
                          <a:pt x="183364" y="183359"/>
                        </a:moveTo>
                        <a:lnTo>
                          <a:pt x="129477" y="237245"/>
                        </a:lnTo>
                        <a:cubicBezTo>
                          <a:pt x="119560" y="247153"/>
                          <a:pt x="103492" y="247153"/>
                          <a:pt x="93575" y="237245"/>
                        </a:cubicBezTo>
                        <a:lnTo>
                          <a:pt x="39676" y="183359"/>
                        </a:lnTo>
                        <a:cubicBezTo>
                          <a:pt x="0" y="143682"/>
                          <a:pt x="1" y="79353"/>
                          <a:pt x="39678" y="39676"/>
                        </a:cubicBezTo>
                        <a:cubicBezTo>
                          <a:pt x="79355" y="0"/>
                          <a:pt x="143684" y="0"/>
                          <a:pt x="183361" y="39676"/>
                        </a:cubicBezTo>
                        <a:cubicBezTo>
                          <a:pt x="223038" y="79353"/>
                          <a:pt x="223039" y="143682"/>
                          <a:pt x="183364" y="183359"/>
                        </a:cubicBezTo>
                      </a:path>
                    </a:pathLst>
                  </a:custGeom>
                  <a:noFill/>
                  <a:ln>
                    <a:noFill/>
                  </a:ln>
                </p:spPr>
              </p:sp>
            </p:grpSp>
          </p:grpSp>
          <p:sp>
            <p:nvSpPr>
              <p:cNvPr id="53" name="TextBox 53"/>
              <p:cNvSpPr txBox="1"/>
              <p:nvPr/>
            </p:nvSpPr>
            <p:spPr>
              <a:xfrm>
                <a:off x="5149215" y="2777490"/>
                <a:ext cx="253003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华东区贡献主要增量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5156835" y="3089910"/>
                <a:ext cx="2834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区域贡献度更集中，增长来源更清晰</a:t>
                </a:r>
              </a:p>
            </p:txBody>
          </p:sp>
          <p:grpSp>
            <p:nvGrpSpPr>
              <p:cNvPr id="58" name="Group 58"/>
              <p:cNvGrpSpPr/>
              <p:nvPr/>
            </p:nvGrpSpPr>
            <p:grpSpPr>
              <a:xfrm>
                <a:off x="4905375" y="3848100"/>
                <a:ext cx="2381250" cy="900112"/>
                <a:chOff x="4905375" y="3848100"/>
                <a:chExt cx="2381250" cy="900112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4905375" y="3848100"/>
                  <a:ext cx="2381250" cy="83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0" h="838200">
                      <a:moveTo>
                        <a:pt x="152400" y="0"/>
                      </a:moveTo>
                      <a:lnTo>
                        <a:pt x="2228850" y="0"/>
                      </a:lnTo>
                      <a:cubicBezTo>
                        <a:pt x="2313018" y="0"/>
                        <a:pt x="2381250" y="68232"/>
                        <a:pt x="2381250" y="152400"/>
                      </a:cubicBezTo>
                      <a:lnTo>
                        <a:pt x="2381250" y="685800"/>
                      </a:lnTo>
                      <a:cubicBezTo>
                        <a:pt x="2381250" y="769968"/>
                        <a:pt x="2313018" y="838200"/>
                        <a:pt x="2228850" y="838200"/>
                      </a:cubicBezTo>
                      <a:lnTo>
                        <a:pt x="152400" y="838200"/>
                      </a:lnTo>
                      <a:cubicBezTo>
                        <a:pt x="68232" y="838200"/>
                        <a:pt x="0" y="769968"/>
                        <a:pt x="0" y="685800"/>
                      </a:cubicBezTo>
                      <a:lnTo>
                        <a:pt x="0" y="152400"/>
                      </a:lnTo>
                      <a:cubicBezTo>
                        <a:pt x="0" y="68232"/>
                        <a:pt x="68232" y="0"/>
                        <a:pt x="152400" y="0"/>
                      </a:cubicBezTo>
                      <a:close/>
                    </a:path>
                  </a:pathLst>
                </a:custGeom>
                <a:solidFill>
                  <a:srgbClr val="16A34A">
                    <a:alpha val="8000"/>
                  </a:srgbClr>
                </a:solidFill>
                <a:ln w="9525">
                  <a:solidFill>
                    <a:srgbClr val="16A34A">
                      <a:alpha val="20000"/>
                    </a:srgbClr>
                  </a:solidFill>
                </a:ln>
              </p:spPr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5271849" y="4019550"/>
                  <a:ext cx="1648301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16A34A"/>
                      </a:solidFill>
                      <a:latin typeface="Arial"/>
                      <a:ea typeface="Microsoft YaHei"/>
                      <a:cs typeface="Arial"/>
                    </a:rPr>
                    <a:t>增量主驱动区域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5672566" y="4230052"/>
                  <a:ext cx="846868" cy="518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550" b="1" dirty="0">
                      <a:solidFill>
                        <a:srgbClr val="0F172A"/>
                      </a:solidFill>
                      <a:latin typeface="Arial"/>
                      <a:ea typeface="SimHei"/>
                      <a:cs typeface="Arial"/>
                    </a:rPr>
                    <a:t>华东</a:t>
                  </a:r>
                </a:p>
              </p:txBody>
            </p:sp>
          </p:grpSp>
          <p:grpSp>
            <p:nvGrpSpPr>
              <p:cNvPr id="61" name="Group 61"/>
              <p:cNvGrpSpPr/>
              <p:nvPr/>
            </p:nvGrpSpPr>
            <p:grpSpPr>
              <a:xfrm>
                <a:off x="4619625" y="4876800"/>
                <a:ext cx="2952750" cy="419100"/>
                <a:chOff x="4619625" y="4876800"/>
                <a:chExt cx="2952750" cy="419100"/>
              </a:xfrm>
            </p:grpSpPr>
            <p:sp>
              <p:nvSpPr>
                <p:cNvPr id="59" name="Freeform 59"/>
                <p:cNvSpPr/>
                <p:nvPr/>
              </p:nvSpPr>
              <p:spPr>
                <a:xfrm>
                  <a:off x="4619625" y="4876800"/>
                  <a:ext cx="2952750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0" h="419100">
                      <a:moveTo>
                        <a:pt x="114300" y="0"/>
                      </a:moveTo>
                      <a:lnTo>
                        <a:pt x="2838450" y="0"/>
                      </a:lnTo>
                      <a:cubicBezTo>
                        <a:pt x="2901576" y="0"/>
                        <a:pt x="2952750" y="51174"/>
                        <a:pt x="2952750" y="114300"/>
                      </a:cubicBezTo>
                      <a:lnTo>
                        <a:pt x="2952750" y="304800"/>
                      </a:lnTo>
                      <a:cubicBezTo>
                        <a:pt x="2952750" y="367926"/>
                        <a:pt x="2901576" y="419100"/>
                        <a:pt x="2838450" y="419100"/>
                      </a:cubicBezTo>
                      <a:lnTo>
                        <a:pt x="114300" y="419100"/>
                      </a:lnTo>
                      <a:cubicBezTo>
                        <a:pt x="51174" y="419100"/>
                        <a:pt x="0" y="367926"/>
                        <a:pt x="0" y="3048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4793932" y="5005864"/>
                  <a:ext cx="2052804" cy="259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75" dirty="0">
                      <a:solidFill>
                        <a:srgbClr val="0F172A"/>
                      </a:solidFill>
                      <a:latin typeface="Arial"/>
                      <a:ea typeface="Microsoft YaHei"/>
                      <a:cs typeface="Arial"/>
                    </a:rPr>
                    <a:t>• 区域增量并非均匀分布</a:t>
                  </a:r>
                </a:p>
              </p:txBody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4619625" y="5391150"/>
                <a:ext cx="3158180" cy="419100"/>
                <a:chOff x="4619625" y="5391150"/>
                <a:chExt cx="3158180" cy="419100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4619625" y="5391150"/>
                  <a:ext cx="2952750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0" h="419100">
                      <a:moveTo>
                        <a:pt x="114300" y="0"/>
                      </a:moveTo>
                      <a:lnTo>
                        <a:pt x="2838450" y="0"/>
                      </a:lnTo>
                      <a:cubicBezTo>
                        <a:pt x="2901576" y="0"/>
                        <a:pt x="2952750" y="51174"/>
                        <a:pt x="2952750" y="114300"/>
                      </a:cubicBezTo>
                      <a:lnTo>
                        <a:pt x="2952750" y="304800"/>
                      </a:lnTo>
                      <a:cubicBezTo>
                        <a:pt x="2952750" y="367926"/>
                        <a:pt x="2901576" y="419100"/>
                        <a:pt x="2838450" y="419100"/>
                      </a:cubicBezTo>
                      <a:lnTo>
                        <a:pt x="114300" y="419100"/>
                      </a:lnTo>
                      <a:cubicBezTo>
                        <a:pt x="51174" y="419100"/>
                        <a:pt x="0" y="367926"/>
                        <a:pt x="0" y="3048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4793932" y="5520214"/>
                  <a:ext cx="2983873" cy="259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75" dirty="0">
                      <a:solidFill>
                        <a:srgbClr val="0F172A"/>
                      </a:solidFill>
                      <a:latin typeface="Arial"/>
                      <a:ea typeface="Microsoft YaHei"/>
                      <a:cs typeface="Arial"/>
                    </a:rPr>
                    <a:t>• 后续资源投放可优先聚焦重点区域</a:t>
                  </a:r>
                </a:p>
              </p:txBody>
            </p:sp>
          </p:grpSp>
        </p:grpSp>
        <p:grpSp>
          <p:nvGrpSpPr>
            <p:cNvPr id="96" name="Group 96"/>
            <p:cNvGrpSpPr/>
            <p:nvPr/>
          </p:nvGrpSpPr>
          <p:grpSpPr>
            <a:xfrm>
              <a:off x="8096250" y="2552700"/>
              <a:ext cx="3897440" cy="3333750"/>
              <a:chOff x="8096250" y="2552700"/>
              <a:chExt cx="3897440" cy="333375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8096250" y="2552700"/>
                <a:ext cx="3524250" cy="3333750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3333750">
                    <a:moveTo>
                      <a:pt x="152400" y="0"/>
                    </a:moveTo>
                    <a:lnTo>
                      <a:pt x="3371850" y="0"/>
                    </a:lnTo>
                    <a:cubicBezTo>
                      <a:pt x="3456018" y="0"/>
                      <a:pt x="3524250" y="68232"/>
                      <a:pt x="3524250" y="152400"/>
                    </a:cubicBezTo>
                    <a:lnTo>
                      <a:pt x="3524250" y="3181350"/>
                    </a:lnTo>
                    <a:cubicBezTo>
                      <a:pt x="3524250" y="3265518"/>
                      <a:pt x="3456018" y="3333750"/>
                      <a:pt x="3371850" y="3333750"/>
                    </a:cubicBezTo>
                    <a:lnTo>
                      <a:pt x="152400" y="3333750"/>
                    </a:lnTo>
                    <a:cubicBezTo>
                      <a:pt x="68232" y="3333750"/>
                      <a:pt x="0" y="3265518"/>
                      <a:pt x="0" y="31813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190500" dist="57150" dir="10799427" algn="tl" rotWithShape="0">
                  <a:srgbClr val="0F172A">
                    <a:alpha val="10000"/>
                  </a:srgbClr>
                </a:outerShdw>
              </a:effectLst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096250" y="2552700"/>
                <a:ext cx="3524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952500">
                    <a:moveTo>
                      <a:pt x="152400" y="0"/>
                    </a:moveTo>
                    <a:lnTo>
                      <a:pt x="3371850" y="0"/>
                    </a:lnTo>
                    <a:cubicBezTo>
                      <a:pt x="3456018" y="0"/>
                      <a:pt x="3524250" y="68232"/>
                      <a:pt x="3524250" y="152400"/>
                    </a:cubicBezTo>
                    <a:lnTo>
                      <a:pt x="3524250" y="800100"/>
                    </a:lnTo>
                    <a:cubicBezTo>
                      <a:pt x="3524250" y="884268"/>
                      <a:pt x="3456018" y="952500"/>
                      <a:pt x="3371850" y="952500"/>
                    </a:cubicBezTo>
                    <a:lnTo>
                      <a:pt x="152400" y="952500"/>
                    </a:lnTo>
                    <a:cubicBezTo>
                      <a:pt x="68232" y="952500"/>
                      <a:pt x="0" y="884268"/>
                      <a:pt x="0" y="8001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FF6FF"/>
                  </a:gs>
                  <a:gs pos="100000">
                    <a:srgbClr val="F8FAFC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8096250" y="3352800"/>
                <a:ext cx="3524250" cy="9525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8324850" y="2781300"/>
                <a:ext cx="495300" cy="495300"/>
                <a:chOff x="8324850" y="2781300"/>
                <a:chExt cx="495300" cy="495300"/>
              </a:xfrm>
            </p:grpSpPr>
            <p:sp>
              <p:nvSpPr>
                <p:cNvPr id="69" name="Ellipse 69"/>
                <p:cNvSpPr/>
                <p:nvPr/>
              </p:nvSpPr>
              <p:spPr>
                <a:xfrm>
                  <a:off x="8324850" y="2781300"/>
                  <a:ext cx="495300" cy="495300"/>
                </a:xfrm>
                <a:prstGeom prst="ellipse">
                  <a:avLst/>
                </a:prstGeom>
                <a:solidFill>
                  <a:srgbClr val="0F62FE">
                    <a:alpha val="12000"/>
                  </a:srgbClr>
                </a:solidFill>
                <a:ln>
                  <a:noFill/>
                </a:ln>
              </p:spPr>
            </p:sp>
            <p:grpSp>
              <p:nvGrpSpPr>
                <p:cNvPr id="72" name="Group 72"/>
                <p:cNvGrpSpPr/>
                <p:nvPr/>
              </p:nvGrpSpPr>
              <p:grpSpPr>
                <a:xfrm>
                  <a:off x="8470900" y="2914650"/>
                  <a:ext cx="203200" cy="228600"/>
                  <a:chOff x="8470900" y="2914650"/>
                  <a:chExt cx="203200" cy="228600"/>
                </a:xfrm>
              </p:grpSpPr>
              <p:sp>
                <p:nvSpPr>
                  <p:cNvPr id="70" name="Freeform 70"/>
                  <p:cNvSpPr/>
                  <p:nvPr/>
                </p:nvSpPr>
                <p:spPr>
                  <a:xfrm>
                    <a:off x="8470900" y="2914650"/>
                    <a:ext cx="2032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200" h="114300">
                        <a:moveTo>
                          <a:pt x="0" y="114300"/>
                        </a:moveTo>
                        <a:lnTo>
                          <a:pt x="0" y="76200"/>
                        </a:lnTo>
                        <a:cubicBezTo>
                          <a:pt x="0" y="55158"/>
                          <a:pt x="17058" y="38100"/>
                          <a:pt x="38100" y="38100"/>
                        </a:cubicBezTo>
                        <a:lnTo>
                          <a:pt x="203200" y="38100"/>
                        </a:lnTo>
                        <a:moveTo>
                          <a:pt x="165100" y="0"/>
                        </a:moveTo>
                        <a:lnTo>
                          <a:pt x="203200" y="38100"/>
                        </a:lnTo>
                        <a:lnTo>
                          <a:pt x="165100" y="7620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</p:sp>
              <p:sp>
                <p:nvSpPr>
                  <p:cNvPr id="71" name="Freeform 71"/>
                  <p:cNvSpPr/>
                  <p:nvPr/>
                </p:nvSpPr>
                <p:spPr>
                  <a:xfrm>
                    <a:off x="8470900" y="3028950"/>
                    <a:ext cx="2032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200" h="114300">
                        <a:moveTo>
                          <a:pt x="203200" y="0"/>
                        </a:moveTo>
                        <a:lnTo>
                          <a:pt x="203200" y="38100"/>
                        </a:lnTo>
                        <a:cubicBezTo>
                          <a:pt x="203200" y="59142"/>
                          <a:pt x="186142" y="76200"/>
                          <a:pt x="165100" y="76200"/>
                        </a:cubicBezTo>
                        <a:lnTo>
                          <a:pt x="0" y="76200"/>
                        </a:lnTo>
                        <a:moveTo>
                          <a:pt x="38100" y="114300"/>
                        </a:moveTo>
                        <a:lnTo>
                          <a:pt x="0" y="76200"/>
                        </a:lnTo>
                        <a:lnTo>
                          <a:pt x="38100" y="3810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</p:sp>
            </p:grpSp>
          </p:grpSp>
          <p:sp>
            <p:nvSpPr>
              <p:cNvPr id="74" name="TextBox 74"/>
              <p:cNvSpPr txBox="1"/>
              <p:nvPr/>
            </p:nvSpPr>
            <p:spPr>
              <a:xfrm>
                <a:off x="8911590" y="2777490"/>
                <a:ext cx="308210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新客成本上升，复购改善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919210" y="3089910"/>
                <a:ext cx="2834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拉新效率承压，但存量经营信号转好</a:t>
                </a:r>
              </a:p>
            </p:txBody>
          </p:sp>
          <p:grpSp>
            <p:nvGrpSpPr>
              <p:cNvPr id="82" name="Group 82"/>
              <p:cNvGrpSpPr/>
              <p:nvPr/>
            </p:nvGrpSpPr>
            <p:grpSpPr>
              <a:xfrm>
                <a:off x="8429625" y="3848100"/>
                <a:ext cx="1418082" cy="819150"/>
                <a:chOff x="8429625" y="3848100"/>
                <a:chExt cx="1418082" cy="819150"/>
              </a:xfrm>
            </p:grpSpPr>
            <p:sp>
              <p:nvSpPr>
                <p:cNvPr id="76" name="Freeform 76"/>
                <p:cNvSpPr/>
                <p:nvPr/>
              </p:nvSpPr>
              <p:spPr>
                <a:xfrm>
                  <a:off x="8429625" y="3848100"/>
                  <a:ext cx="1333500" cy="81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0" h="819150">
                      <a:moveTo>
                        <a:pt x="152400" y="0"/>
                      </a:moveTo>
                      <a:lnTo>
                        <a:pt x="1181100" y="0"/>
                      </a:lnTo>
                      <a:cubicBezTo>
                        <a:pt x="1265268" y="0"/>
                        <a:pt x="1333500" y="68232"/>
                        <a:pt x="1333500" y="152400"/>
                      </a:cubicBezTo>
                      <a:lnTo>
                        <a:pt x="1333500" y="666750"/>
                      </a:lnTo>
                      <a:cubicBezTo>
                        <a:pt x="1333500" y="750918"/>
                        <a:pt x="1265268" y="819150"/>
                        <a:pt x="1181100" y="819150"/>
                      </a:cubicBezTo>
                      <a:lnTo>
                        <a:pt x="152400" y="819150"/>
                      </a:lnTo>
                      <a:cubicBezTo>
                        <a:pt x="68232" y="819150"/>
                        <a:pt x="0" y="750918"/>
                        <a:pt x="0" y="666750"/>
                      </a:cubicBezTo>
                      <a:lnTo>
                        <a:pt x="0" y="152400"/>
                      </a:lnTo>
                      <a:cubicBezTo>
                        <a:pt x="0" y="68232"/>
                        <a:pt x="68232" y="0"/>
                        <a:pt x="152400" y="0"/>
                      </a:cubicBezTo>
                      <a:close/>
                    </a:path>
                  </a:pathLst>
                </a:custGeom>
                <a:solidFill>
                  <a:srgbClr val="FEF2F2"/>
                </a:solidFill>
                <a:ln w="9525">
                  <a:solidFill>
                    <a:srgbClr val="FECACA"/>
                  </a:solidFill>
                </a:ln>
              </p:spPr>
            </p:sp>
            <p:grpSp>
              <p:nvGrpSpPr>
                <p:cNvPr id="79" name="Group 79"/>
                <p:cNvGrpSpPr/>
                <p:nvPr/>
              </p:nvGrpSpPr>
              <p:grpSpPr>
                <a:xfrm>
                  <a:off x="8686800" y="4067175"/>
                  <a:ext cx="95250" cy="95250"/>
                  <a:chOff x="8686800" y="4067175"/>
                  <a:chExt cx="95250" cy="95250"/>
                </a:xfrm>
              </p:grpSpPr>
              <p:sp>
                <p:nvSpPr>
                  <p:cNvPr id="77" name="Freeform 77"/>
                  <p:cNvSpPr/>
                  <p:nvPr/>
                </p:nvSpPr>
                <p:spPr>
                  <a:xfrm>
                    <a:off x="8686800" y="4067175"/>
                    <a:ext cx="95250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95250">
                        <a:moveTo>
                          <a:pt x="95250" y="0"/>
                        </a:moveTo>
                        <a:lnTo>
                          <a:pt x="0" y="9525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</p:sp>
              <p:sp>
                <p:nvSpPr>
                  <p:cNvPr id="78" name="Freeform 78"/>
                  <p:cNvSpPr/>
                  <p:nvPr/>
                </p:nvSpPr>
                <p:spPr>
                  <a:xfrm>
                    <a:off x="8696325" y="4067175"/>
                    <a:ext cx="85725" cy="85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725" h="85725">
                        <a:moveTo>
                          <a:pt x="0" y="0"/>
                        </a:moveTo>
                        <a:lnTo>
                          <a:pt x="85725" y="0"/>
                        </a:lnTo>
                        <a:lnTo>
                          <a:pt x="85725" y="85725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</p:sp>
            </p:grpSp>
            <p:sp>
              <p:nvSpPr>
                <p:cNvPr id="80" name="TextBox 80"/>
                <p:cNvSpPr txBox="1"/>
                <p:nvPr/>
              </p:nvSpPr>
              <p:spPr>
                <a:xfrm>
                  <a:off x="9081135" y="4042410"/>
                  <a:ext cx="766572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DC2626"/>
                      </a:solidFill>
                      <a:latin typeface="Arial"/>
                      <a:ea typeface="Microsoft YaHei"/>
                      <a:cs typeface="Arial"/>
                    </a:rPr>
                    <a:t>新客成本</a:t>
                  </a:r>
                </a:p>
              </p:txBody>
            </p:sp>
            <p:sp>
              <p:nvSpPr>
                <p:cNvPr id="81" name="TextBox 81"/>
                <p:cNvSpPr txBox="1"/>
                <p:nvPr/>
              </p:nvSpPr>
              <p:spPr>
                <a:xfrm>
                  <a:off x="9069705" y="4211955"/>
                  <a:ext cx="697420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DC2626"/>
                      </a:solidFill>
                      <a:latin typeface="Arial"/>
                      <a:ea typeface="SimHei"/>
                      <a:cs typeface="Arial"/>
                    </a:rPr>
                    <a:t>上升</a:t>
                  </a:r>
                </a:p>
              </p:txBody>
            </p:sp>
          </p:grpSp>
          <p:grpSp>
            <p:nvGrpSpPr>
              <p:cNvPr id="89" name="Group 89"/>
              <p:cNvGrpSpPr/>
              <p:nvPr/>
            </p:nvGrpSpPr>
            <p:grpSpPr>
              <a:xfrm>
                <a:off x="9953625" y="3848100"/>
                <a:ext cx="1418082" cy="819150"/>
                <a:chOff x="9953625" y="3848100"/>
                <a:chExt cx="1418082" cy="819150"/>
              </a:xfrm>
            </p:grpSpPr>
            <p:sp>
              <p:nvSpPr>
                <p:cNvPr id="83" name="Freeform 83"/>
                <p:cNvSpPr/>
                <p:nvPr/>
              </p:nvSpPr>
              <p:spPr>
                <a:xfrm>
                  <a:off x="9953625" y="3848100"/>
                  <a:ext cx="1333500" cy="81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0" h="819150">
                      <a:moveTo>
                        <a:pt x="152400" y="0"/>
                      </a:moveTo>
                      <a:lnTo>
                        <a:pt x="1181100" y="0"/>
                      </a:lnTo>
                      <a:cubicBezTo>
                        <a:pt x="1265268" y="0"/>
                        <a:pt x="1333500" y="68232"/>
                        <a:pt x="1333500" y="152400"/>
                      </a:cubicBezTo>
                      <a:lnTo>
                        <a:pt x="1333500" y="666750"/>
                      </a:lnTo>
                      <a:cubicBezTo>
                        <a:pt x="1333500" y="750918"/>
                        <a:pt x="1265268" y="819150"/>
                        <a:pt x="1181100" y="819150"/>
                      </a:cubicBezTo>
                      <a:lnTo>
                        <a:pt x="152400" y="819150"/>
                      </a:lnTo>
                      <a:cubicBezTo>
                        <a:pt x="68232" y="819150"/>
                        <a:pt x="0" y="750918"/>
                        <a:pt x="0" y="666750"/>
                      </a:cubicBezTo>
                      <a:lnTo>
                        <a:pt x="0" y="152400"/>
                      </a:lnTo>
                      <a:cubicBezTo>
                        <a:pt x="0" y="68232"/>
                        <a:pt x="68232" y="0"/>
                        <a:pt x="152400" y="0"/>
                      </a:cubicBezTo>
                      <a:close/>
                    </a:path>
                  </a:pathLst>
                </a:custGeom>
                <a:solidFill>
                  <a:srgbClr val="F0FDF4"/>
                </a:solidFill>
                <a:ln w="9525">
                  <a:solidFill>
                    <a:srgbClr val="BBF7D0"/>
                  </a:solidFill>
                </a:ln>
              </p:spPr>
            </p:sp>
            <p:grpSp>
              <p:nvGrpSpPr>
                <p:cNvPr id="86" name="Group 86"/>
                <p:cNvGrpSpPr/>
                <p:nvPr/>
              </p:nvGrpSpPr>
              <p:grpSpPr>
                <a:xfrm>
                  <a:off x="10182225" y="4029075"/>
                  <a:ext cx="152400" cy="171450"/>
                  <a:chOff x="10182225" y="4029075"/>
                  <a:chExt cx="152400" cy="171450"/>
                </a:xfrm>
              </p:grpSpPr>
              <p:sp>
                <p:nvSpPr>
                  <p:cNvPr id="84" name="Freeform 84"/>
                  <p:cNvSpPr/>
                  <p:nvPr/>
                </p:nvSpPr>
                <p:spPr>
                  <a:xfrm>
                    <a:off x="10182225" y="4029075"/>
                    <a:ext cx="152400" cy="85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400" h="85725">
                        <a:moveTo>
                          <a:pt x="0" y="85725"/>
                        </a:moveTo>
                        <a:lnTo>
                          <a:pt x="0" y="57150"/>
                        </a:lnTo>
                        <a:cubicBezTo>
                          <a:pt x="0" y="41368"/>
                          <a:pt x="12793" y="28575"/>
                          <a:pt x="28575" y="28575"/>
                        </a:cubicBezTo>
                        <a:lnTo>
                          <a:pt x="152400" y="28575"/>
                        </a:lnTo>
                        <a:moveTo>
                          <a:pt x="123825" y="0"/>
                        </a:moveTo>
                        <a:lnTo>
                          <a:pt x="152400" y="28575"/>
                        </a:lnTo>
                        <a:lnTo>
                          <a:pt x="123825" y="57150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</p:sp>
              <p:sp>
                <p:nvSpPr>
                  <p:cNvPr id="85" name="Freeform 85"/>
                  <p:cNvSpPr/>
                  <p:nvPr/>
                </p:nvSpPr>
                <p:spPr>
                  <a:xfrm>
                    <a:off x="10182225" y="4114800"/>
                    <a:ext cx="152400" cy="85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400" h="85725">
                        <a:moveTo>
                          <a:pt x="152400" y="0"/>
                        </a:moveTo>
                        <a:lnTo>
                          <a:pt x="152400" y="28575"/>
                        </a:lnTo>
                        <a:cubicBezTo>
                          <a:pt x="152400" y="44357"/>
                          <a:pt x="139607" y="57150"/>
                          <a:pt x="123825" y="57150"/>
                        </a:cubicBezTo>
                        <a:lnTo>
                          <a:pt x="0" y="57150"/>
                        </a:lnTo>
                        <a:moveTo>
                          <a:pt x="28575" y="85725"/>
                        </a:moveTo>
                        <a:lnTo>
                          <a:pt x="0" y="57150"/>
                        </a:lnTo>
                        <a:lnTo>
                          <a:pt x="28575" y="28575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</p:sp>
            </p:grpSp>
            <p:sp>
              <p:nvSpPr>
                <p:cNvPr id="87" name="TextBox 87"/>
                <p:cNvSpPr txBox="1"/>
                <p:nvPr/>
              </p:nvSpPr>
              <p:spPr>
                <a:xfrm>
                  <a:off x="10605135" y="4042410"/>
                  <a:ext cx="766572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16A34A"/>
                      </a:solidFill>
                      <a:latin typeface="Arial"/>
                      <a:ea typeface="Microsoft YaHei"/>
                      <a:cs typeface="Arial"/>
                    </a:rPr>
                    <a:t>复购表现</a:t>
                  </a:r>
                </a:p>
              </p:txBody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10593705" y="4211955"/>
                  <a:ext cx="697420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16A34A"/>
                      </a:solidFill>
                      <a:latin typeface="Arial"/>
                      <a:ea typeface="SimHei"/>
                      <a:cs typeface="Arial"/>
                    </a:rPr>
                    <a:t>改善</a:t>
                  </a:r>
                </a:p>
              </p:txBody>
            </p:sp>
          </p:grpSp>
          <p:grpSp>
            <p:nvGrpSpPr>
              <p:cNvPr id="92" name="Group 92"/>
              <p:cNvGrpSpPr/>
              <p:nvPr/>
            </p:nvGrpSpPr>
            <p:grpSpPr>
              <a:xfrm>
                <a:off x="8382000" y="4876800"/>
                <a:ext cx="2952750" cy="419100"/>
                <a:chOff x="8382000" y="4876800"/>
                <a:chExt cx="2952750" cy="419100"/>
              </a:xfrm>
            </p:grpSpPr>
            <p:sp>
              <p:nvSpPr>
                <p:cNvPr id="90" name="Freeform 90"/>
                <p:cNvSpPr/>
                <p:nvPr/>
              </p:nvSpPr>
              <p:spPr>
                <a:xfrm>
                  <a:off x="8382000" y="4876800"/>
                  <a:ext cx="2952750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0" h="419100">
                      <a:moveTo>
                        <a:pt x="114300" y="0"/>
                      </a:moveTo>
                      <a:lnTo>
                        <a:pt x="2838450" y="0"/>
                      </a:lnTo>
                      <a:cubicBezTo>
                        <a:pt x="2901576" y="0"/>
                        <a:pt x="2952750" y="51174"/>
                        <a:pt x="2952750" y="114300"/>
                      </a:cubicBezTo>
                      <a:lnTo>
                        <a:pt x="2952750" y="304800"/>
                      </a:lnTo>
                      <a:cubicBezTo>
                        <a:pt x="2952750" y="367926"/>
                        <a:pt x="2901576" y="419100"/>
                        <a:pt x="2838450" y="419100"/>
                      </a:cubicBezTo>
                      <a:lnTo>
                        <a:pt x="114300" y="419100"/>
                      </a:lnTo>
                      <a:cubicBezTo>
                        <a:pt x="51174" y="419100"/>
                        <a:pt x="0" y="367926"/>
                        <a:pt x="0" y="3048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8556308" y="5005864"/>
                  <a:ext cx="2611445" cy="259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75" dirty="0">
                      <a:solidFill>
                        <a:srgbClr val="0F172A"/>
                      </a:solidFill>
                      <a:latin typeface="Arial"/>
                      <a:ea typeface="Microsoft YaHei"/>
                      <a:cs typeface="Arial"/>
                    </a:rPr>
                    <a:t>• 增长更依赖存量用户经营质量</a:t>
                  </a:r>
                </a:p>
              </p:txBody>
            </p:sp>
          </p:grpSp>
          <p:grpSp>
            <p:nvGrpSpPr>
              <p:cNvPr id="95" name="Group 95"/>
              <p:cNvGrpSpPr/>
              <p:nvPr/>
            </p:nvGrpSpPr>
            <p:grpSpPr>
              <a:xfrm>
                <a:off x="8382000" y="5391150"/>
                <a:ext cx="2971967" cy="419100"/>
                <a:chOff x="8382000" y="5391150"/>
                <a:chExt cx="2971967" cy="419100"/>
              </a:xfrm>
            </p:grpSpPr>
            <p:sp>
              <p:nvSpPr>
                <p:cNvPr id="93" name="Freeform 93"/>
                <p:cNvSpPr/>
                <p:nvPr/>
              </p:nvSpPr>
              <p:spPr>
                <a:xfrm>
                  <a:off x="8382000" y="5391150"/>
                  <a:ext cx="2952750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0" h="419100">
                      <a:moveTo>
                        <a:pt x="114300" y="0"/>
                      </a:moveTo>
                      <a:lnTo>
                        <a:pt x="2838450" y="0"/>
                      </a:lnTo>
                      <a:cubicBezTo>
                        <a:pt x="2901576" y="0"/>
                        <a:pt x="2952750" y="51174"/>
                        <a:pt x="2952750" y="114300"/>
                      </a:cubicBezTo>
                      <a:lnTo>
                        <a:pt x="2952750" y="304800"/>
                      </a:lnTo>
                      <a:cubicBezTo>
                        <a:pt x="2952750" y="367926"/>
                        <a:pt x="2901576" y="419100"/>
                        <a:pt x="2838450" y="419100"/>
                      </a:cubicBezTo>
                      <a:lnTo>
                        <a:pt x="114300" y="419100"/>
                      </a:lnTo>
                      <a:cubicBezTo>
                        <a:pt x="51174" y="419100"/>
                        <a:pt x="0" y="367926"/>
                        <a:pt x="0" y="3048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94" name="TextBox 94"/>
                <p:cNvSpPr txBox="1"/>
                <p:nvPr/>
              </p:nvSpPr>
              <p:spPr>
                <a:xfrm>
                  <a:off x="8556308" y="5520214"/>
                  <a:ext cx="2797659" cy="259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75" dirty="0">
                      <a:solidFill>
                        <a:srgbClr val="0F172A"/>
                      </a:solidFill>
                      <a:latin typeface="Arial"/>
                      <a:ea typeface="Microsoft YaHei"/>
                      <a:cs typeface="Arial"/>
                    </a:rPr>
                    <a:t>• 后续需平衡拉新效率与留存投入</a:t>
                  </a:r>
                </a:p>
              </p:txBody>
            </p:sp>
          </p:grpSp>
        </p:grpSp>
      </p:grpSp>
      <p:grpSp>
        <p:nvGrpSpPr>
          <p:cNvPr id="101" name="Group 101"/>
          <p:cNvGrpSpPr/>
          <p:nvPr/>
        </p:nvGrpSpPr>
        <p:grpSpPr>
          <a:xfrm>
            <a:off x="558165" y="6210300"/>
            <a:ext cx="11062335" cy="366712"/>
            <a:chOff x="558165" y="6210300"/>
            <a:chExt cx="11062335" cy="366712"/>
          </a:xfrm>
        </p:grpSpPr>
        <p:sp>
          <p:nvSpPr>
            <p:cNvPr id="98" name="Rectangle 98"/>
            <p:cNvSpPr/>
            <p:nvPr/>
          </p:nvSpPr>
          <p:spPr>
            <a:xfrm>
              <a:off x="571500" y="6210300"/>
              <a:ext cx="110490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58165" y="6363652"/>
              <a:ext cx="55473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说明：所有结论均直接来自源文档，未补充额外数据口径、时间范围或因果推断。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305127" y="636365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